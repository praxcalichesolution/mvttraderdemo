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1089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CALICHE ENERGY SOLUTIONS  ·  RADIANT-MVT TRADING MODULE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E071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PREPARED FOR INEOS TRADING &amp; SHIPPING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for the Trading Desk.
</a:t>
            </a:r>
            <a:pPr indent="0" marL="0">
              <a:lnSpc>
                <a:spcPct val="105000"/>
              </a:lnSpc>
              <a:buNone/>
            </a:pPr>
            <a:r>
              <a:rPr lang="en-US" sz="4800" b="1" i="1" dirty="0">
                <a:solidFill>
                  <a:srgbClr val="E071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Operationalized.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B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five-layer AI orchestration blueprint for INEOS commodity trading — built on Radiant-MVT™ molecular-grade data, designed for trader-speed decisions across crude, products, gas, and petrochemicals.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451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80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 ·  ARCHITECTURE  ·  EXECUTION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46304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|  THE TRADING CHALLENGE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F12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trading desk runs on speed.
</a:t>
            </a:r>
            <a:pPr indent="0" marL="0">
              <a:lnSpc>
                <a:spcPct val="105000"/>
              </a:lnSpc>
              <a:buNone/>
            </a:pPr>
            <a:r>
              <a:rPr lang="en-US" sz="2200" b="1" i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 underneath runs on lag.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operational drags every commodity trading floor lives with — and that AI alone cannot fix.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6822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74520"/>
            <a:ext cx="54864" cy="25603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03120"/>
            <a:ext cx="231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60%+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231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a trader's day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246120"/>
            <a:ext cx="231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stitching positions, P&amp;L, and exposure across ETRM, ERP, and a wall of spreadsheets — instead of trading.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30880" y="1874520"/>
            <a:ext cx="26822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30880" y="1874520"/>
            <a:ext cx="54864" cy="25603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9480" y="2103120"/>
            <a:ext cx="231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T+1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459480" y="2880360"/>
            <a:ext cx="231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reconciliation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59480" y="3246120"/>
            <a:ext cx="231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Marks-to-market refresh overnight. By the time the desk sees true exposure, the market has already moved.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6000" y="1874520"/>
            <a:ext cx="26822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000" y="1874520"/>
            <a:ext cx="54864" cy="25603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4600" y="2103120"/>
            <a:ext cx="231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324600" y="2880360"/>
            <a:ext cx="231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trusted data layer for AI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24600" y="3246120"/>
            <a:ext cx="231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Prediction, optimization, and sentiment models exist — but they can't run on reconciled data the desk would actually trade on.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45902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is the trade. The desk needs the foundation to match.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9525">
            <a:solidFill>
              <a:srgbClr val="E8D9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5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CALICHE ENERGY SOLUTIONS  ·  RADIANT-MVT TRADING MODULE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09360" y="49194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www.calichesolutions.com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909560" y="491947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46304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|  THE TRADING CHALLENGE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F12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trading-floor AI stalls.
</a:t>
            </a:r>
            <a:pPr indent="0" marL="0">
              <a:lnSpc>
                <a:spcPct val="105000"/>
              </a:lnSpc>
              <a:buNone/>
            </a:pPr>
            <a:r>
              <a:rPr lang="en-US" sz="2200" b="1" i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failure modes, every time.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100+ ETRM/CTRM implementations, the same patterns appear before any AI work begins.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6822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48840"/>
            <a:ext cx="548640" cy="548640"/>
          </a:xfrm>
          <a:prstGeom prst="ellipse">
            <a:avLst/>
          </a:prstGeom>
          <a:solidFill>
            <a:srgbClr val="F5E6D3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5856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788920"/>
            <a:ext cx="231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Fragmented Position Truth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3383280"/>
            <a:ext cx="2316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Physical, paper, and exchange positions live in different systems with different cutoffs. Models trained on one view contradict the other — and traders stop trusting either.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30880" y="1874520"/>
            <a:ext cx="26822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05200" y="2148840"/>
            <a:ext cx="548640" cy="548640"/>
          </a:xfrm>
          <a:prstGeom prst="ellipse">
            <a:avLst/>
          </a:prstGeom>
          <a:solidFill>
            <a:srgbClr val="F5E6D3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928" y="225856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59480" y="2788920"/>
            <a:ext cx="231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Trade Lifecycle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59480" y="3383280"/>
            <a:ext cx="2316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Confirmations, novations, and amendments still flow through email and spreadsheets. AI inherits broken lineage and learns rules that don't match how the desk actually books.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96000" y="1874520"/>
            <a:ext cx="26822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70320" y="2148840"/>
            <a:ext cx="548640" cy="548640"/>
          </a:xfrm>
          <a:prstGeom prst="ellipse">
            <a:avLst/>
          </a:prstGeom>
          <a:solidFill>
            <a:srgbClr val="F5E6D3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48" y="225856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24600" y="2788920"/>
            <a:ext cx="231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Margin Without Molecules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24600" y="3383280"/>
            <a:ext cx="2316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is rolled up at the trade level, not the molecule. Without barrel-by-barrel attribution, optimization models can't tell a profitable lane from a subsidized one.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solidFill>
            <a:srgbClr val="3D1F0D"/>
          </a:solidFill>
          <a:ln w="12700">
            <a:solidFill>
              <a:srgbClr val="3D1F0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 the data first. Then operationalize the AI on top of it.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9525">
            <a:solidFill>
              <a:srgbClr val="E8D9C4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5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CALICHE ENERGY SOLUTIONS  ·  RADIANT-MVT TRADING MODULE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6309360" y="49194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www.calichesolutions.com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7909560" y="491947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46304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|  THE BLUEPRINT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F12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Radiant-MVT Trading Module.
</a:t>
            </a:r>
            <a:pPr indent="0" marL="0">
              <a:lnSpc>
                <a:spcPct val="105000"/>
              </a:lnSpc>
              <a:buNone/>
            </a:pPr>
            <a:r>
              <a:rPr lang="en-US" sz="2200" b="1" i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layers, one trading floor.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architecture purpose-built for the commodity trading workflow — every layer designed for trader-speed decisions.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754880" cy="502920"/>
          </a:xfrm>
          <a:prstGeom prst="rect">
            <a:avLst/>
          </a:prstGeom>
          <a:solidFill>
            <a:srgbClr val="3D1F0D"/>
          </a:solidFill>
          <a:ln w="12700">
            <a:solidFill>
              <a:srgbClr val="3D1F0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74520"/>
            <a:ext cx="502920" cy="5029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911096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INTELLIGENCE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B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 dashboards · risk views · briefings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4754880" cy="502920"/>
          </a:xfrm>
          <a:prstGeom prst="rect">
            <a:avLst/>
          </a:prstGeom>
          <a:solidFill>
            <a:srgbClr val="4F2814"/>
          </a:solidFill>
          <a:ln w="12700">
            <a:solidFill>
              <a:srgbClr val="4F28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423160"/>
            <a:ext cx="502920" cy="5029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459736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ML MODELS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05840" y="269748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B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· anomaly · optimization · GenAI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4754880" cy="502920"/>
          </a:xfrm>
          <a:prstGeom prst="rect">
            <a:avLst/>
          </a:prstGeom>
          <a:solidFill>
            <a:srgbClr val="6B3A1F"/>
          </a:solidFill>
          <a:ln w="12700">
            <a:solidFill>
              <a:srgbClr val="6B3A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71800"/>
            <a:ext cx="502920" cy="5029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008376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ENGINE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05840" y="324612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B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Radiant-MVT™ Core · real-time P&amp;L · risk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4754880" cy="502920"/>
          </a:xfrm>
          <a:prstGeom prst="rect">
            <a:avLst/>
          </a:prstGeom>
          <a:solidFill>
            <a:srgbClr val="8B5A3C"/>
          </a:solidFill>
          <a:ln w="12700">
            <a:solidFill>
              <a:srgbClr val="8B5A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520440"/>
            <a:ext cx="502920" cy="5029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557016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LAKE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05840" y="379476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B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 · positions · contracts · sentiment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069080"/>
            <a:ext cx="4754880" cy="502920"/>
          </a:xfrm>
          <a:prstGeom prst="rect">
            <a:avLst/>
          </a:prstGeom>
          <a:solidFill>
            <a:srgbClr val="A87B5C"/>
          </a:solidFill>
          <a:ln w="12700">
            <a:solidFill>
              <a:srgbClr val="A87B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069080"/>
            <a:ext cx="502920" cy="5029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4105656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05840" y="434340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B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· ETRM · vessels · counterparties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0" y="1874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 FOR TRADING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0" y="22402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0" y="22402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Source of Truth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0" y="2441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Front, middle, and back office all read from the same reconciled layer.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0" y="295351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0" y="29535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 a First-Class Tier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deploy directly onto Radiant-MVT — no shadow data layer required.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86400" y="36667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0" y="366674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Independent Layers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0" y="38679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a new market data feed or ETRM without disturbing the model tier.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86400" y="437997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69280" y="437997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Trader-Speed Latency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0" y="45811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reconciliation built for desk decision velocity, not nightly batch.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9525">
            <a:solidFill>
              <a:srgbClr val="E8D9C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5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CALICHE ENERGY SOLUTIONS  ·  RADIANT-MVT TRADING MODULE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09360" y="49194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www.calichesolutions.com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909560" y="491947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46304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|  THE BLUEPRINT  ·  LAYER 01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F12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Collection.
</a:t>
            </a:r>
            <a:pPr indent="0" marL="0">
              <a:lnSpc>
                <a:spcPct val="105000"/>
              </a:lnSpc>
              <a:buNone/>
            </a:pPr>
            <a:r>
              <a:rPr lang="en-US" sz="2200" b="1" i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signal that moves the trade.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market, position, vessel, and counterparty signal a trader uses — captured once, at the source, with full lineage.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72491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74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02082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Data Feeds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51460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Platts, Argus, ICE, NYMEX, OPIS, Bloomberg — curves, indices, spreads, vols, settlements.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9544" y="1874520"/>
            <a:ext cx="272491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205740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95344" y="202082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Position &amp; Trade Feeds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92424" y="251460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pulls from RightAngle / Endur / Allegro — every booked, pending, and amended trade.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53328" y="1874520"/>
            <a:ext cx="272491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05740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39128" y="202082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Logistics &amp; Vessel Data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236208" y="251460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 tracking, terminal nominations, pipeline movements, vessel lineups, demurrage events.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65760" y="3200400"/>
            <a:ext cx="272491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8328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334670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Counterparty &amp; Broker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48640" y="384048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FIX-protocol exchange flow, broker quotes, voice/chat capture, confirmation feeds.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209544" y="3200400"/>
            <a:ext cx="272491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3383280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95344" y="334670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 &amp; Sentiment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3392424" y="384048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services, regulatory filings, refinery/pipeline outages, OPEC actions, geopolitics.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053328" y="3200400"/>
            <a:ext cx="272491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3383280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39128" y="334670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&amp; Credit Signals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6236208" y="384048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exposure, collateral, CDS spreads, internal credit lines, watchlist events.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solidFill>
            <a:srgbClr val="3D1F0D"/>
          </a:solidFill>
          <a:ln w="12700">
            <a:solidFill>
              <a:srgbClr val="3D1F0D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PRINCIPLE  ·  Captured at source · timestamped · lineage-preserved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9525">
            <a:solidFill>
              <a:srgbClr val="E8D9C4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5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CALICHE ENERGY SOLUTIONS  ·  RADIANT-MVT TRADING MODULE</a:t>
            </a:r>
            <a:endParaRPr lang="en-US" sz="800" dirty="0"/>
          </a:p>
        </p:txBody>
      </p:sp>
      <p:sp>
        <p:nvSpPr>
          <p:cNvPr id="34" name="Text 26"/>
          <p:cNvSpPr/>
          <p:nvPr/>
        </p:nvSpPr>
        <p:spPr>
          <a:xfrm>
            <a:off x="6309360" y="49194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www.calichesolutions.com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7909560" y="491947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46304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|  THE BLUEPRINT  ·  LAYER 02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F12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Lake.
</a:t>
            </a:r>
            <a:pPr indent="0" marL="0">
              <a:lnSpc>
                <a:spcPct val="105000"/>
              </a:lnSpc>
              <a:buNone/>
            </a:pPr>
            <a:r>
              <a:rPr lang="en-US" sz="2200" b="1" i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that compounds the desk's edge.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and unstructured trading data unified — versioned, queryable, and ready for the model tier above.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 ·  TIME-SERIES &amp; RELATIONAL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2167128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9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67128"/>
            <a:ext cx="54864" cy="4572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2037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 Curves &amp; Vol Surfaces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239572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settlement, every tenor, full history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624328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9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624328"/>
            <a:ext cx="54864" cy="4572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609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 Blotter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" y="285292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bookings, amendments, novations, terminations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081528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9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081528"/>
            <a:ext cx="54864" cy="4572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1181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Position History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0352" y="331012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Physical, paper, exchange — molecule-tagged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538728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9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538728"/>
            <a:ext cx="54864" cy="4572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5753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P&amp;L Attribution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0352" y="376732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Realized, unrealized, MTM — at trade and molecule level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995928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9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95928"/>
            <a:ext cx="54864" cy="4572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0325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Counterparty Master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0352" y="422452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entities, agreements, credit lines, settlements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1874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UNSTRUCTURED  ·  CONTEXT &amp; SIGNAL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167128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9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167128"/>
            <a:ext cx="54864" cy="4572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22037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 &amp; Confirmation Corpus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28032" y="239572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term sheet, ISDA, master agreement — embedded for retrieval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624328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9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624328"/>
            <a:ext cx="54864" cy="4572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26609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&amp; Analyst Notes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28032" y="285292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+ external commentary, vectorized for context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081528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9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3081528"/>
            <a:ext cx="54864" cy="4572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31181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&amp; Chat Capture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28032" y="331012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IB, Symphony, Teams — for compliance &amp; idea mining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538728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9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3538728"/>
            <a:ext cx="54864" cy="4572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35753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News, Filings, Outages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28032" y="376732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to commodities, regions, counterparties, tenors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995928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9C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3995928"/>
            <a:ext cx="54864" cy="4572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40325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Trader Annotations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28032" y="422452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Reasoning, hedge intent, market view — captured at trade entry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solidFill>
            <a:srgbClr val="3D1F0D"/>
          </a:solidFill>
          <a:ln w="12700">
            <a:solidFill>
              <a:srgbClr val="3D1F0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PRINCIPLE  ·  TagTrack™ molecular IDs preserved across every domain — physical, financial, and contextual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9525">
            <a:solidFill>
              <a:srgbClr val="E8D9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5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CALICHE ENERGY SOLUTIONS  ·  RADIANT-MVT TRADING MODULE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309360" y="49194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www.calichesolutions.com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909560" y="491947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46304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|  THE BLUEPRINT  ·  LAYER 03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F12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Engine.
</a:t>
            </a:r>
            <a:pPr indent="0" marL="0">
              <a:lnSpc>
                <a:spcPct val="105000"/>
              </a:lnSpc>
              <a:buNone/>
            </a:pPr>
            <a:r>
              <a:rPr lang="en-US" sz="2200" b="1" i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Radiant-MVT™ Core — the truth layer.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reconciled data becomes the calculations the front, middle, and back office all trust.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03911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2011680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P&amp;L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0352" y="2404872"/>
            <a:ext cx="2441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MTM, attribution by trader, book, commodity, lane.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72968" y="187452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03911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39896" y="2011680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Position Aggregation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337560" y="2404872"/>
            <a:ext cx="2441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+ paper + exchange consolidated to a single net view.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980176" y="187452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03911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47104" y="2011680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 &amp; Risk Greeks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144768" y="2404872"/>
            <a:ext cx="2441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Parametric, Monte Carlo, stress; deltas, gammas, vegas on demand.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65760" y="347472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639312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2688" y="3611880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Curve Construction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30352" y="4005072"/>
            <a:ext cx="2441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forwards, basis, spreads, vol surfaces — model-ready.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172968" y="347472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639312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739896" y="3611880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Settlement Engine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3337560" y="4005072"/>
            <a:ext cx="2441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lift reconciliation, invoicing, demurrage, FX settlement.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5980176" y="347472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3639312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47104" y="3611880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 &amp; Audit Trail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6144768" y="4005072"/>
            <a:ext cx="2441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Dodd-Frank, EMIR, REMIT — immutable lineage from tick to trade.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365760" y="2971800"/>
            <a:ext cx="8412480" cy="411480"/>
          </a:xfrm>
          <a:prstGeom prst="rect">
            <a:avLst/>
          </a:prstGeom>
          <a:solidFill>
            <a:srgbClr val="3D1F0D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365760" y="29718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RADIANT-MVT™ CORE</a:t>
            </a:r>
            <a:pPr algn="ctr" indent="0" marL="0">
              <a:buNone/>
            </a:pPr>
            <a:r>
              <a:rPr lang="en-US" sz="1100" i="1" dirty="0">
                <a:solidFill>
                  <a:srgbClr val="E071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powering every calculation above and below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solidFill>
            <a:srgbClr val="3D1F0D"/>
          </a:solidFill>
          <a:ln w="12700">
            <a:solidFill>
              <a:srgbClr val="3D1F0D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PRINCIPLE  ·  One calculation engine · one number · every downstream tier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9525">
            <a:solidFill>
              <a:srgbClr val="E8D9C4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5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CALICHE ENERGY SOLUTIONS  ·  RADIANT-MVT TRADING MODULE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6309360" y="49194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www.calichesolutions.com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7909560" y="491947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46304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|  THE BLUEPRINT  ·  LAYER 04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F12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ML Models.
</a:t>
            </a:r>
            <a:pPr indent="0" marL="0">
              <a:lnSpc>
                <a:spcPct val="105000"/>
              </a:lnSpc>
              <a:buNone/>
            </a:pPr>
            <a:r>
              <a:rPr lang="en-US" sz="2200" b="1" i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 at trader speed.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model families operating directly on Radiant-MVT-grade data — built to make traders faster, not to replace them.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72491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74520"/>
            <a:ext cx="2724912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74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2039112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Forecasting &amp; Curves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51460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ML-driven forward curve prediction, basis modeling, vol surface evolution — feeding mark-to-model and pre-trade analytics.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9544" y="1874520"/>
            <a:ext cx="272491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9544" y="1874520"/>
            <a:ext cx="2724912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20574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67912" y="2039112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 Idea Generation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92424" y="251460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across historical spreads, arbs, and seasonal plays — surfaced with rationale, not as black-box signals.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53328" y="1874520"/>
            <a:ext cx="272491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53328" y="1874520"/>
            <a:ext cx="2724912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0574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11696" y="2039112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&amp; Surveillance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36208" y="251460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fat-finger entries, unusual P&amp;L movements, rogue patterns, market manipulation flags — pre- and post-trade.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65760" y="3200400"/>
            <a:ext cx="272491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65760" y="3200400"/>
            <a:ext cx="2724912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8328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24128" y="3364992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Optimal Hedging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384048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hedge structures against physical length — minimizing basis risk, margin posting, and rolling cost.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209544" y="3200400"/>
            <a:ext cx="272491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209544" y="3200400"/>
            <a:ext cx="2724912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338328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67912" y="3364992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GenAI Trade Copilot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392424" y="384048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contracts, blotter, research — answers 'what's my exposure if Urals widens 50¢' in natural language.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053328" y="3200400"/>
            <a:ext cx="272491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053328" y="3200400"/>
            <a:ext cx="2724912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3383280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11696" y="3364992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&amp; Sentiment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236208" y="384048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News, outages, geopolitics scored against position book — early-warning for exposure that just changed shape.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solidFill>
            <a:srgbClr val="3D1F0D"/>
          </a:solidFill>
          <a:ln w="12700">
            <a:solidFill>
              <a:srgbClr val="3D1F0D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PRINCIPLE  ·  Explainable by default · trader-in-the-loop · model lineage to Radiant-MVT inputs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9525">
            <a:solidFill>
              <a:srgbClr val="E8D9C4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5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CALICHE ENERGY SOLUTIONS  ·  RADIANT-MVT TRADING MODULE</a:t>
            </a:r>
            <a:endParaRPr lang="en-US" sz="800" dirty="0"/>
          </a:p>
        </p:txBody>
      </p:sp>
      <p:sp>
        <p:nvSpPr>
          <p:cNvPr id="40" name="Text 32"/>
          <p:cNvSpPr/>
          <p:nvPr/>
        </p:nvSpPr>
        <p:spPr>
          <a:xfrm>
            <a:off x="6309360" y="49194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www.calichesolutions.com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7909560" y="491947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46304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|  THE BLUEPRINT  ·  LAYER 05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F12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Intelligence.
</a:t>
            </a:r>
            <a:pPr indent="0" marL="0">
              <a:lnSpc>
                <a:spcPct val="105000"/>
              </a:lnSpc>
              <a:buNone/>
            </a:pPr>
            <a:r>
              <a:rPr lang="en-US" sz="2200" b="1" i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Decisions at the speed of the market.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trader, the CRO, and the C-suite actually see — surfaced from the same reconciled core.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6822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74520"/>
            <a:ext cx="2682240" cy="548640"/>
          </a:xfrm>
          <a:prstGeom prst="rect">
            <a:avLst/>
          </a:prstGeom>
          <a:solidFill>
            <a:srgbClr val="3D1F0D"/>
          </a:solidFill>
          <a:ln w="12700">
            <a:solidFill>
              <a:srgbClr val="3D1F0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9339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1874520"/>
            <a:ext cx="204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TRADER DESK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25877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9808" y="2587752"/>
            <a:ext cx="217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P&amp;L by book, lane, molecule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29535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808" y="2953512"/>
            <a:ext cx="217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&amp; exposure heat-map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33192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9808" y="3319272"/>
            <a:ext cx="217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trade ideas with rationale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36850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9808" y="3685032"/>
            <a:ext cx="217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market brief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40507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49808" y="4050792"/>
            <a:ext cx="217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Pre-trade margin &amp; credit check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30880" y="1874520"/>
            <a:ext cx="26822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30880" y="1874520"/>
            <a:ext cx="2682240" cy="548640"/>
          </a:xfrm>
          <a:prstGeom prst="rect">
            <a:avLst/>
          </a:prstGeom>
          <a:solidFill>
            <a:srgbClr val="3D1F0D"/>
          </a:solidFill>
          <a:ln w="12700">
            <a:solidFill>
              <a:srgbClr val="3D1F0D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760" y="1993392"/>
            <a:ext cx="310896" cy="31089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797808" y="1874520"/>
            <a:ext cx="204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MIDDLE OFFICE &amp; RISK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3413760" y="25877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3614928" y="2587752"/>
            <a:ext cx="217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VaR + stress dashboards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3413760" y="29535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3614928" y="2953512"/>
            <a:ext cx="217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exposure &amp; limits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3413760" y="33192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3614928" y="3319272"/>
            <a:ext cx="217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call forecast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3413760" y="36850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3614928" y="3685032"/>
            <a:ext cx="217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&amp; surveillance alerts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3413760" y="40507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3614928" y="4050792"/>
            <a:ext cx="217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lineage views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096000" y="1874520"/>
            <a:ext cx="26822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096000" y="1874520"/>
            <a:ext cx="2682240" cy="548640"/>
          </a:xfrm>
          <a:prstGeom prst="rect">
            <a:avLst/>
          </a:prstGeom>
          <a:solidFill>
            <a:srgbClr val="3D1F0D"/>
          </a:solidFill>
          <a:ln w="12700">
            <a:solidFill>
              <a:srgbClr val="3D1F0D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80" y="1993392"/>
            <a:ext cx="310896" cy="310896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662928" y="1874520"/>
            <a:ext cx="204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C-SUITE &amp; STRATEGY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6278880" y="25877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6480048" y="2587752"/>
            <a:ext cx="217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executive briefing (GenAI)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6278880" y="29535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6480048" y="2953512"/>
            <a:ext cx="217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by trading entity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6278880" y="33192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6480048" y="3319272"/>
            <a:ext cx="217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efficiency dashboard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6278880" y="36850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6480048" y="3685032"/>
            <a:ext cx="217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ESG reporting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6278880" y="40507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6480048" y="4050792"/>
            <a:ext cx="217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scenario modeling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solidFill>
            <a:srgbClr val="3D1F0D"/>
          </a:solidFill>
          <a:ln w="12700">
            <a:solidFill>
              <a:srgbClr val="3D1F0D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PRINCIPLE  ·  One reconciled core · audience-specific lenses · everyone trades from the same number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9525">
            <a:solidFill>
              <a:srgbClr val="E8D9C4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5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CALICHE ENERGY SOLUTIONS  ·  RADIANT-MVT TRADING MODULE</a:t>
            </a:r>
            <a:endParaRPr lang="en-US" sz="800" dirty="0"/>
          </a:p>
        </p:txBody>
      </p:sp>
      <p:sp>
        <p:nvSpPr>
          <p:cNvPr id="52" name="Text 47"/>
          <p:cNvSpPr/>
          <p:nvPr/>
        </p:nvSpPr>
        <p:spPr>
          <a:xfrm>
            <a:off x="6309360" y="49194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www.calichesolutions.com</a:t>
            </a:r>
            <a:endParaRPr lang="en-US" sz="800" dirty="0"/>
          </a:p>
        </p:txBody>
      </p:sp>
      <p:sp>
        <p:nvSpPr>
          <p:cNvPr id="53" name="Text 48"/>
          <p:cNvSpPr/>
          <p:nvPr/>
        </p:nvSpPr>
        <p:spPr>
          <a:xfrm>
            <a:off x="7909560" y="491947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46304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|  THE OUTCOMES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F12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delivers for INEOS.
</a:t>
            </a:r>
            <a:pPr indent="0" marL="0">
              <a:lnSpc>
                <a:spcPct val="105000"/>
              </a:lnSpc>
              <a:buNone/>
            </a:pPr>
            <a:r>
              <a:rPr lang="en-US" sz="2200" b="1" i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Basis points, not buzzwords.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impact across the trade lifecycle — sized against typical commodity trading desk benchmarks.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682240" cy="2560320"/>
          </a:xfrm>
          <a:prstGeom prst="rect">
            <a:avLst/>
          </a:prstGeom>
          <a:solidFill>
            <a:srgbClr val="3D1F0D"/>
          </a:solidFill>
          <a:ln w="12700">
            <a:solidFill>
              <a:srgbClr val="3D1F0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74520"/>
            <a:ext cx="268224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9456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71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2–4 bps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231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margin lift on traded volume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502152"/>
            <a:ext cx="231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B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optimized hedge selection, basis trade identification, and reduced rolling cost — sustained across crude, products, and gas books.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30880" y="1874520"/>
            <a:ext cx="2682240" cy="2560320"/>
          </a:xfrm>
          <a:prstGeom prst="rect">
            <a:avLst/>
          </a:prstGeom>
          <a:solidFill>
            <a:srgbClr val="3D1F0D"/>
          </a:solidFill>
          <a:ln w="12700">
            <a:solidFill>
              <a:srgbClr val="3D1F0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30880" y="1874520"/>
            <a:ext cx="268224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9480" y="219456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71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10×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459480" y="3108960"/>
            <a:ext cx="231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position truth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59480" y="3502152"/>
            <a:ext cx="231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B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intraday MTM instead of T+1 reconciliation. The desk sees true exposure before the market moves, not after.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6000" y="1874520"/>
            <a:ext cx="2682240" cy="2560320"/>
          </a:xfrm>
          <a:prstGeom prst="rect">
            <a:avLst/>
          </a:prstGeom>
          <a:solidFill>
            <a:srgbClr val="3D1F0D"/>
          </a:solidFill>
          <a:ln w="12700">
            <a:solidFill>
              <a:srgbClr val="3D1F0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000" y="1874520"/>
            <a:ext cx="268224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4600" y="219456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71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60–90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324600" y="3108960"/>
            <a:ext cx="231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to first model in production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24600" y="3502152"/>
            <a:ext cx="231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B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trading-floor AI use case live — not a sandbox demo — running on reconciled Radiant-MVT data with full lineage.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45902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Numbers the desk can defend. Lineage the auditor can verify.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9525">
            <a:solidFill>
              <a:srgbClr val="E8D9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5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CALICHE ENERGY SOLUTIONS  ·  RADIANT-MVT TRADING MODULE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09360" y="49194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www.calichesolutions.com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909560" y="491947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46304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|  THE OUTCOMES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F12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fits into INEOS today.
</a:t>
            </a:r>
            <a:pPr indent="0" marL="0">
              <a:lnSpc>
                <a:spcPct val="105000"/>
              </a:lnSpc>
              <a:buNone/>
            </a:pPr>
            <a:r>
              <a:rPr lang="en-US" sz="2200" b="1" i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underneath. Not bolted on.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Radiant-MVT slots beneath existing ETRM, ERP, and risk systems — no rip-and-replace, no big-bang cutover.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391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ETRM / CTRM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500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RightAngle · Endur · Allegro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82112" y="187452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20391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9272" y="23500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· Oracle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98464" y="187452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98464" y="20391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35624" y="23500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Platts · Argus · ICE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82219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1330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Murex · in-house VaR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82112" y="365760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382219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19272" y="41330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· vessel · pipeline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98464" y="365760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98464" y="382219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35624" y="41330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Dodd-Frank · EMIR · REMIT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926080"/>
            <a:ext cx="8412480" cy="594360"/>
          </a:xfrm>
          <a:prstGeom prst="rect">
            <a:avLst/>
          </a:prstGeom>
          <a:solidFill>
            <a:srgbClr val="3D1F0D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26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spc="40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RADIANT-MVT™ TRADING CORE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E071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unified data layer beneath every system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714500" y="2743200"/>
            <a:ext cx="0" cy="182880"/>
          </a:xfrm>
          <a:prstGeom prst="line">
            <a:avLst/>
          </a:prstGeom>
          <a:noFill/>
          <a:ln w="15875">
            <a:solidFill>
              <a:srgbClr val="B5896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714500" y="3520440"/>
            <a:ext cx="0" cy="137160"/>
          </a:xfrm>
          <a:prstGeom prst="line">
            <a:avLst/>
          </a:prstGeom>
          <a:noFill/>
          <a:ln w="15875">
            <a:solidFill>
              <a:srgbClr val="B5896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530852" y="2743200"/>
            <a:ext cx="0" cy="182880"/>
          </a:xfrm>
          <a:prstGeom prst="line">
            <a:avLst/>
          </a:prstGeom>
          <a:noFill/>
          <a:ln w="15875">
            <a:solidFill>
              <a:srgbClr val="B5896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30852" y="3520440"/>
            <a:ext cx="0" cy="137160"/>
          </a:xfrm>
          <a:prstGeom prst="line">
            <a:avLst/>
          </a:prstGeom>
          <a:noFill/>
          <a:ln w="15875">
            <a:solidFill>
              <a:srgbClr val="B5896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47204" y="2743200"/>
            <a:ext cx="0" cy="182880"/>
          </a:xfrm>
          <a:prstGeom prst="line">
            <a:avLst/>
          </a:prstGeom>
          <a:noFill/>
          <a:ln w="15875">
            <a:solidFill>
              <a:srgbClr val="B5896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347204" y="3520440"/>
            <a:ext cx="0" cy="137160"/>
          </a:xfrm>
          <a:prstGeom prst="line">
            <a:avLst/>
          </a:prstGeom>
          <a:noFill/>
          <a:ln w="15875">
            <a:solidFill>
              <a:srgbClr val="B5896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65760" y="4617720"/>
            <a:ext cx="2767584" cy="237744"/>
          </a:xfrm>
          <a:prstGeom prst="rect">
            <a:avLst/>
          </a:prstGeom>
          <a:solidFill>
            <a:srgbClr val="3D1F0D"/>
          </a:solidFill>
          <a:ln w="12700">
            <a:solidFill>
              <a:srgbClr val="3D1F0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617720"/>
            <a:ext cx="2767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API-FIRST  ·  modular &amp; scalable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169920" y="4617720"/>
            <a:ext cx="2767584" cy="237744"/>
          </a:xfrm>
          <a:prstGeom prst="rect">
            <a:avLst/>
          </a:prstGeom>
          <a:solidFill>
            <a:srgbClr val="3D1F0D"/>
          </a:solidFill>
          <a:ln w="12700">
            <a:solidFill>
              <a:srgbClr val="3D1F0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69920" y="4617720"/>
            <a:ext cx="2767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50+ PRE-BUILT CONNECTORS  ·  native ETRM/ERP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74080" y="4617720"/>
            <a:ext cx="2804160" cy="237744"/>
          </a:xfrm>
          <a:prstGeom prst="rect">
            <a:avLst/>
          </a:prstGeom>
          <a:solidFill>
            <a:srgbClr val="3D1F0D"/>
          </a:solidFill>
          <a:ln w="12700">
            <a:solidFill>
              <a:srgbClr val="3D1F0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74080" y="4617720"/>
            <a:ext cx="280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ZERO-DOWNTIME MIGRATION  ·  continuous operation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9525">
            <a:solidFill>
              <a:srgbClr val="E8D9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5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CALICHE ENERGY SOLUTIONS  ·  RADIANT-MVT TRADING MODULE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09360" y="49194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www.calichesolutions.com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909560" y="491947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46304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|  THE PATH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F12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90 days.
</a:t>
            </a:r>
            <a:pPr indent="0" marL="0">
              <a:lnSpc>
                <a:spcPct val="105000"/>
              </a:lnSpc>
              <a:buNone/>
            </a:pPr>
            <a:r>
              <a:rPr lang="en-US" sz="2200" b="1" i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sandbox to a live trading-floor AI.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pilot proving Radiant-MVT on one INEOS book — with a working AI model in production by day 90.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694432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74520"/>
            <a:ext cx="548640" cy="5486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1962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5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1–30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121408"/>
            <a:ext cx="1962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5877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569464"/>
            <a:ext cx="2237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data audit (ETRM, market, ops)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87121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852928"/>
            <a:ext cx="2237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one priority book (e.g. crude or NGLs)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15468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136392"/>
            <a:ext cx="2237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Radiant-MVT sandbox + connectors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4381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419856"/>
            <a:ext cx="2237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success metrics with the desk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2694432" cy="548640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904488"/>
            <a:ext cx="2420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spc="200" kern="0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
</a:t>
            </a:r>
            <a:pPr indent="0" marL="0">
              <a:lnSpc>
                <a:spcPct val="110000"/>
              </a:lnSpc>
              <a:buNone/>
            </a:pPr>
            <a:r>
              <a:rPr lang="en-US" sz="1000" b="1" i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Diagnosed gaps. Quantified opportunity. Aligned desk.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24784" y="1874520"/>
            <a:ext cx="2694432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24784" y="1874520"/>
            <a:ext cx="548640" cy="5486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2478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64864" y="1920240"/>
            <a:ext cx="1962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5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31–60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64864" y="2121408"/>
            <a:ext cx="1962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407664" y="25877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90544" y="2569464"/>
            <a:ext cx="2237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Radiant-MVT for the pilot book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07664" y="287121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90544" y="2852928"/>
            <a:ext cx="2237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physical-financial position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07664" y="315468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90544" y="3136392"/>
            <a:ext cx="2237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+ validate first AI model (hedge opt)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07664" y="34381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90544" y="3419856"/>
            <a:ext cx="2237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baseline P&amp;L and risk benchmarks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24784" y="3886200"/>
            <a:ext cx="2694432" cy="548640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9376" y="3904488"/>
            <a:ext cx="2420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spc="200" kern="0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
</a:t>
            </a:r>
            <a:pPr indent="0" marL="0">
              <a:lnSpc>
                <a:spcPct val="110000"/>
              </a:lnSpc>
              <a:buNone/>
            </a:pPr>
            <a:r>
              <a:rPr lang="en-US" sz="1000" b="1" i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AI in production. Measurable proof.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83808" y="1874520"/>
            <a:ext cx="2694432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D9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3808" y="1874520"/>
            <a:ext cx="548640" cy="5486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380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723888" y="1920240"/>
            <a:ext cx="1962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5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61–90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23888" y="2121408"/>
            <a:ext cx="1962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66688" y="25877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49568" y="2569464"/>
            <a:ext cx="2237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the pilot book end-to-end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66688" y="287121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49568" y="2852928"/>
            <a:ext cx="2237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adjacent book, same foundation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66688" y="315468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49568" y="3136392"/>
            <a:ext cx="2237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trading-floor AI CoE model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66688" y="34381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49568" y="3419856"/>
            <a:ext cx="2237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12-month INEOS AI roadmap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083808" y="3886200"/>
            <a:ext cx="2694432" cy="548640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48400" y="3904488"/>
            <a:ext cx="2420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spc="200" kern="0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
</a:t>
            </a:r>
            <a:pPr indent="0" marL="0">
              <a:lnSpc>
                <a:spcPct val="110000"/>
              </a:lnSpc>
              <a:buNone/>
            </a:pPr>
            <a:r>
              <a:rPr lang="en-US" sz="1000" b="1" i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Repeatable. Scalable. Standing capability.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65760" y="45902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three-year strategy required. Just the right first ninety days.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9525">
            <a:solidFill>
              <a:srgbClr val="E8D9C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5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CALICHE ENERGY SOLUTIONS  ·  RADIANT-MVT TRADING MODULE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309360" y="49194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www.calichesolutions.com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909560" y="491947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1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108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RADIANT-MVT TRADING MODULE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B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by energy veterans.
</a:t>
            </a:r>
            <a:pPr indent="0" marL="0">
              <a:lnSpc>
                <a:spcPct val="105000"/>
              </a:lnSpc>
              <a:buNone/>
            </a:pPr>
            <a:r>
              <a:rPr lang="en-US" sz="3600" b="1" i="1" dirty="0">
                <a:solidFill>
                  <a:srgbClr val="E071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Architected for trading AI.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2621280" cy="1280160"/>
          </a:xfrm>
          <a:prstGeom prst="rect">
            <a:avLst/>
          </a:prstGeom>
          <a:solidFill>
            <a:srgbClr val="4F2814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88036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071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225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B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data and use-case assessment across the INEOS trading floor.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61360" y="2743200"/>
            <a:ext cx="2621280" cy="1280160"/>
          </a:xfrm>
          <a:prstGeom prst="rect">
            <a:avLst/>
          </a:prstGeom>
          <a:solidFill>
            <a:srgbClr val="4F2814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1360" y="288036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071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44240" y="3246120"/>
            <a:ext cx="225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B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Radiant-MVT pilot — first AI model live by day 90.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65520" y="2743200"/>
            <a:ext cx="2621280" cy="1280160"/>
          </a:xfrm>
          <a:prstGeom prst="rect">
            <a:avLst/>
          </a:prstGeom>
          <a:solidFill>
            <a:srgbClr val="4F2814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65520" y="288036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071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48400" y="3246120"/>
            <a:ext cx="225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B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operating-model blueprint + AI Center of Excellence framework.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8229600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800" kern="0" dirty="0">
                <a:solidFill>
                  <a:srgbClr val="E071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TALK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6817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B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www.calichesolutions.com  ·  Mattoon Partners + Caliche Energy Solutions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Radiant-MVT Trading Module for INEOS</dc:title>
  <dc:subject>PptxGenJS Presentation</dc:subject>
  <dc:creator>Caliche Energy Solutions</dc:creator>
  <cp:lastModifiedBy>Caliche Energy Solutions</cp:lastModifiedBy>
  <cp:revision>1</cp:revision>
  <dcterms:created xsi:type="dcterms:W3CDTF">2026-05-29T20:03:48Z</dcterms:created>
  <dcterms:modified xsi:type="dcterms:W3CDTF">2026-05-29T20:03:48Z</dcterms:modified>
</cp:coreProperties>
</file>