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1480"/>
            <a:ext cx="1371600" cy="29260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11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AI-Powered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Radiant-MVT™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Intelligence Platform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INEOS Trading &amp; Shipping — June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18288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Modern Trading Desk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trading desk runs on speed.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underneath runs on lag.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2560320" cy="7315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8191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trader's day spent on data assembly — not trading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50876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508760"/>
            <a:ext cx="2560320" cy="7315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58191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429000" y="24231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reconciliation — by the time you see exposure, the market moved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50876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508760"/>
            <a:ext cx="2560320" cy="7315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58191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263640" y="24231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AI layer — models exist but can't run on data the desk would trade 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technology problems. They're time and trust problems.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traders told 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3891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9601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every morning rebuilding the same picture from 5 systems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43891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7276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6184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we see true exposure, the window has closed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31136"/>
            <a:ext cx="43891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23113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27685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confirmations get missed — counterparty chases us, not the other way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89504"/>
            <a:ext cx="43891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88950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93522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Dragon vessel delay means 4 phone calls before we know the cargo impact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47872"/>
            <a:ext cx="43891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54787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59359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monthly performance review takes 3 days to write. Manually.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0" y="228600"/>
            <a:ext cx="3657600" cy="44805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228600"/>
            <a:ext cx="73152" cy="448056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5349240" y="118872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desk loses money not because we made bad calls — but because we made them 4 hours late.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349240" y="3749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Senior Crude Trader, European energy major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guides. Not AI that decides.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468880" cy="2651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35608" y="1325880"/>
            <a:ext cx="694944" cy="694944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35608" y="13258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0848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the research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 news article, monitors every price move, tracks every vessel — while you're trading.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468880" cy="2651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1325880"/>
            <a:ext cx="694944" cy="694944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24528" y="13258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29000" y="20848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the insight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in your language, at the right moment, with evidence. Not black-box signals.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468880" cy="2651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13448" y="1325880"/>
            <a:ext cx="694944" cy="694944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13448" y="13258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17920" y="20848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make the call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51460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requires your approval. Every AI action is logged. You are always in control.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371600" y="4251960"/>
            <a:ext cx="6400800" cy="54864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251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Radiant-MVT amplifies trader judgment. It does not replace 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screen. Every signal. All the time.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Radiant-MVT brings your entire trading operation into a single AI-powered workspace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612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89888"/>
            <a:ext cx="429768" cy="429768"/>
          </a:xfrm>
          <a:prstGeom prst="ellipse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8988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Queue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80360" y="13716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day, ranked by P&amp;L impact and deadline. AI has already done the prep.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298448"/>
            <a:ext cx="54864" cy="61264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02536"/>
            <a:ext cx="8229600" cy="612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2093976"/>
            <a:ext cx="429768" cy="429768"/>
          </a:xfrm>
          <a:prstGeom prst="ellipse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9397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0756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Positions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80360" y="207568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Physical, paper, exchange — one net view with real-time P&amp;L. No spreadsheets.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002536"/>
            <a:ext cx="54864" cy="61264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06624"/>
            <a:ext cx="8229600" cy="612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798064"/>
            <a:ext cx="429768" cy="429768"/>
          </a:xfrm>
          <a:prstGeom prst="ellipse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79806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277977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80360" y="277977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recommendations, trade ideas, anomaly detection. Ready before you ask.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706624"/>
            <a:ext cx="54864" cy="61264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410712"/>
            <a:ext cx="8229600" cy="612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3502152"/>
            <a:ext cx="429768" cy="429768"/>
          </a:xfrm>
          <a:prstGeom prst="ellipse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50215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348386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Tracking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880360" y="34838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 fleet positions, voyage economics, demurrage risk — in real time.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410712"/>
            <a:ext cx="54864" cy="61264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14800"/>
            <a:ext cx="8229600" cy="612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" y="4206240"/>
            <a:ext cx="429768" cy="429768"/>
          </a:xfrm>
          <a:prstGeom prst="ellipse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20624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💬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43000" y="41879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880360" y="41879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 about your book in plain English. Get answers in seconds, with sources.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54864" cy="61264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time is your alpha.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what Radiant-MVT gives back.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463040"/>
                <a:gridCol w="228600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Radiant-MVT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 market briefing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min (AI-prepared)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reconciliation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(automatic)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Hedge recommendation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sec (AI + approval)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confirmation follow-up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min (AI-drafted, 1 click)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commentary (monthly)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 (AI-generated)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Vessel delay impact assessment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sec (auto-flagged)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62272"/>
            <a:ext cx="822960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4622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daily saving: 3+ hours per trader.   Annual desk impact: £2.1M in recovered analyst capacity.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layer. Your systems untouched.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Radiant-MVT connects to what you have — no rip-and-replace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EXISTING SYSTEMS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03504" y="1371600"/>
            <a:ext cx="1078992" cy="420624"/>
          </a:xfrm>
          <a:prstGeom prst="rect">
            <a:avLst/>
          </a:prstGeom>
          <a:solidFill>
            <a:srgbClr val="D1D5DB"/>
          </a:solidFill>
          <a:ln w="12700">
            <a:solidFill>
              <a:srgbClr val="B4BB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371600"/>
            <a:ext cx="107899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RightAngle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46504" y="1371600"/>
            <a:ext cx="1078992" cy="420624"/>
          </a:xfrm>
          <a:prstGeom prst="rect">
            <a:avLst/>
          </a:prstGeom>
          <a:solidFill>
            <a:srgbClr val="D1D5DB"/>
          </a:solidFill>
          <a:ln w="12700">
            <a:solidFill>
              <a:srgbClr val="B4BB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46504" y="1371600"/>
            <a:ext cx="107899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Endur/Allegro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889504" y="1371600"/>
            <a:ext cx="1078992" cy="420624"/>
          </a:xfrm>
          <a:prstGeom prst="rect">
            <a:avLst/>
          </a:prstGeom>
          <a:solidFill>
            <a:srgbClr val="D1D5DB"/>
          </a:solidFill>
          <a:ln w="12700">
            <a:solidFill>
              <a:srgbClr val="B4BB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9504" y="1371600"/>
            <a:ext cx="107899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SAP/ERP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032504" y="1371600"/>
            <a:ext cx="1078992" cy="420624"/>
          </a:xfrm>
          <a:prstGeom prst="rect">
            <a:avLst/>
          </a:prstGeom>
          <a:solidFill>
            <a:srgbClr val="D1D5DB"/>
          </a:solidFill>
          <a:ln w="12700">
            <a:solidFill>
              <a:srgbClr val="B4BB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32504" y="1371600"/>
            <a:ext cx="107899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B-PIPE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75504" y="1371600"/>
            <a:ext cx="1078992" cy="420624"/>
          </a:xfrm>
          <a:prstGeom prst="rect">
            <a:avLst/>
          </a:prstGeom>
          <a:solidFill>
            <a:srgbClr val="D1D5DB"/>
          </a:solidFill>
          <a:ln w="12700">
            <a:solidFill>
              <a:srgbClr val="B4BB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75504" y="1371600"/>
            <a:ext cx="107899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Platts/Argus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318504" y="1371600"/>
            <a:ext cx="1078992" cy="420624"/>
          </a:xfrm>
          <a:prstGeom prst="rect">
            <a:avLst/>
          </a:prstGeom>
          <a:solidFill>
            <a:srgbClr val="D1D5DB"/>
          </a:solidFill>
          <a:ln w="12700">
            <a:solidFill>
              <a:srgbClr val="B4BB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1371600"/>
            <a:ext cx="107899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ICE/NYMEX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461504" y="1371600"/>
            <a:ext cx="1078992" cy="420624"/>
          </a:xfrm>
          <a:prstGeom prst="rect">
            <a:avLst/>
          </a:prstGeom>
          <a:solidFill>
            <a:srgbClr val="D1D5DB"/>
          </a:solidFill>
          <a:ln w="12700">
            <a:solidFill>
              <a:srgbClr val="B4BB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61504" y="1371600"/>
            <a:ext cx="107899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 Vessels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0" y="1801368"/>
            <a:ext cx="0" cy="256032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084832"/>
            <a:ext cx="8229600" cy="6583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0848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Radiant-MVT Intelligence Layer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 ·  Analytics Engine  ·  AI Models  ·  Audit Trail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0" y="2752344"/>
            <a:ext cx="0" cy="256032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TRADER EXPERIENCE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" y="3264408"/>
            <a:ext cx="1078992" cy="45720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3264408"/>
            <a:ext cx="10789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746504" y="3264408"/>
            <a:ext cx="1078992" cy="45720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46504" y="3264408"/>
            <a:ext cx="10789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Risk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889504" y="3264408"/>
            <a:ext cx="1078992" cy="45720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9504" y="3264408"/>
            <a:ext cx="10789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032504" y="3264408"/>
            <a:ext cx="1078992" cy="45720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32504" y="3264408"/>
            <a:ext cx="10789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175504" y="3264408"/>
            <a:ext cx="1078992" cy="45720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75504" y="3264408"/>
            <a:ext cx="10789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Communi-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cations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18504" y="3264408"/>
            <a:ext cx="1078992" cy="45720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18504" y="3264408"/>
            <a:ext cx="10789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Perfor-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461504" y="3264408"/>
            <a:ext cx="1078992" cy="45720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61504" y="3264408"/>
            <a:ext cx="10789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 ·  50+ pre-built connectors  ·  Zero downtime migration  ·  Initiate trades to any connected system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AI tools. All built for how traders actually work.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38328" y="914400"/>
            <a:ext cx="265176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38328" y="914400"/>
            <a:ext cx="2651760" cy="6400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78408" y="10698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Hedging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hedge structure for any physical position. Sized to margin, priced to curve.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65176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14400"/>
            <a:ext cx="2651760" cy="6400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86200" y="10698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5087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Fat-finger, stale price, unusual P&amp;L — flagged in seconds, not end-of-day.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914400"/>
            <a:ext cx="265176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53912" y="914400"/>
            <a:ext cx="2651760" cy="6400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93992" y="10698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Copilot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15087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 in plain English. 'What's my exposure if Urals widens 50¢?' — answered with sources.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" y="2834640"/>
            <a:ext cx="265176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8328" y="2834640"/>
            <a:ext cx="2651760" cy="6400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78408" y="29900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" y="3429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forward curve projection. 30-day view with 95% confidence bands.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2834640"/>
            <a:ext cx="265176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2834640"/>
            <a:ext cx="2651760" cy="6400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886200" y="29900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Ideas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83280" y="3429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across historical spreads and arbs. Surfaced with rationale, not signals.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53912" y="2834640"/>
            <a:ext cx="265176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53912" y="2834640"/>
            <a:ext cx="2651760" cy="6400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793992" y="29900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Sentiment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91072" y="3429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scored against your position book. Know the P&amp;L impact before the market reacts.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if...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115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every trader asks 20 times a day. Now answered in seconds.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841248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D3F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00200"/>
            <a:ext cx="64008" cy="6583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Brent drops $5?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11880" y="16459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977640" y="16459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crude book loses $610K MTM. Urals spread widens. Hedge ratio drops to 44%.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350008"/>
            <a:ext cx="841248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D3F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50008"/>
            <a:ext cx="64008" cy="6583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957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Innovation delays 48h?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239572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977640" y="239572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Demurrage cost $90K. Feedstock cover adequate 72h. Recommend ethane swap option.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099816"/>
            <a:ext cx="841248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D3F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099816"/>
            <a:ext cx="64008" cy="6583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4553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OPEC+ cuts 500k bbl?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11880" y="31455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77640" y="314553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+$4.20 est. Urals spread compresses. Hedge recommendation updated automatically.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modelling that used to take 2 hours. Now takes 8 seconds.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moments that change everything.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see these in the next 15 minutes.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98448"/>
            <a:ext cx="2560320" cy="713232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94360" y="20848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we miss target?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816352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forensics on the full quarter. Shortfall traced to opportunities identified too late. $8.7M quantified.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298448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98448"/>
            <a:ext cx="2560320" cy="713232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9844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429000" y="20848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we ever done this trade before?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816352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Brain™ surfaces every similar structure since 2022. Average P&amp;L, failure modes, current conditions. Instantly.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298448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98448"/>
            <a:ext cx="2560320" cy="713232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29844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263640" y="20848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we leave on the table?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816352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opportunity cost audit. 11 of 17 signals missed. $8.7M estimated gap. Evidence, not estimates.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the desk can defend.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8288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1828800" cy="7315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143000"/>
            <a:ext cx="1682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bps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75488" y="2240280"/>
            <a:ext cx="1609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lift on traded volume from optimised hedge selection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005840"/>
            <a:ext cx="18288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0" y="1005840"/>
            <a:ext cx="1828800" cy="7315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1143000"/>
            <a:ext cx="1682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70048" y="2240280"/>
            <a:ext cx="1609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position truth — real-time intraday vs T+1 reconciliation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18288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1828800" cy="7315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143000"/>
            <a:ext cx="1682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 days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64608" y="2240280"/>
            <a:ext cx="1609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 model in production on a live book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1005840"/>
            <a:ext cx="18288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0" y="1005840"/>
            <a:ext cx="1828800" cy="7315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2592" y="1143000"/>
            <a:ext cx="1682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hrs/day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059168" y="2240280"/>
            <a:ext cx="1609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per trader from automated prep and analysis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numbers come from comparable implementations. Your mileage depends on book size and workflow.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data. Your control.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7315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🔒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17320" y="11704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option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Radiant-MVT runs entirely on your infrastructure. Zero data egress. All AI processing local.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27432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Egress Mode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3931920" cy="7315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669280" y="11704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18745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recommendation logged. Every decision tracked. Every model action reviewable.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3246120"/>
            <a:ext cx="27432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246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Trail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462272"/>
            <a:ext cx="8229600" cy="393192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62272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with EMIR  ·  REMIT  ·  MiFID II  ·  Your existing data governance policy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sandbox to a live trading-floor AI.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953512" y="2103120"/>
            <a:ext cx="384048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4632" y="1097280"/>
            <a:ext cx="24688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4632" y="1097280"/>
            <a:ext cx="2468880" cy="65836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1155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B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" y="13898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1874520"/>
            <a:ext cx="2194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data audit  ·  Connect RightAngle  ·  Define success metrics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" y="3108960"/>
            <a:ext cx="2286000" cy="457200"/>
          </a:xfrm>
          <a:prstGeom prst="rect">
            <a:avLst/>
          </a:prstGeom>
          <a:solidFill>
            <a:srgbClr val="F4F6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gaps. Quantified opportunity.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06440" y="2103120"/>
            <a:ext cx="384048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097280"/>
            <a:ext cx="24688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097280"/>
            <a:ext cx="2468880" cy="65836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1155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B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13898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1874520"/>
            <a:ext cx="2194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for one book  ·  Reconcile positions  ·  First AI model live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29000" y="3108960"/>
            <a:ext cx="2286000" cy="457200"/>
          </a:xfrm>
          <a:prstGeom prst="rect">
            <a:avLst/>
          </a:prstGeom>
          <a:solidFill>
            <a:srgbClr val="F4F6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AI in production. Measurable proof.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90488" y="1097280"/>
            <a:ext cx="24688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0488" y="1097280"/>
            <a:ext cx="2468880" cy="65836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11155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B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90488" y="13898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27648" y="1874520"/>
            <a:ext cx="2194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Operationalise  ·  Expand to second book  ·  AI Centre of Excellence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81928" y="3108960"/>
            <a:ext cx="2286000" cy="457200"/>
          </a:xfrm>
          <a:prstGeom prst="rect">
            <a:avLst/>
          </a:prstGeom>
          <a:solidFill>
            <a:srgbClr val="F4F6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1928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Repeatable. Scalable. Standing capability.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5537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three-year strategy required. Just the right first ninety days.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let’s show you.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261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minutes. Live data. Real AI. Your questions welcome at any point.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37744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24871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&amp; Risk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book with real-time P&amp;L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874520"/>
            <a:ext cx="237744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24871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8803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advisor, trade ideas, anomaly detection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874520"/>
            <a:ext cx="237744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72200" y="24871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28803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moments. Live.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462272"/>
            <a:ext cx="8229600" cy="39319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62272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you’re about to see runs on real market data, real AI reasoning, and real INEOS vessel data.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Radiant-MVT™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3B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intelligence platform that remembers every trade, learns from every trader, and quantifies the financial impact of every decision made — or missed.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267712"/>
            <a:ext cx="8229600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2D3F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67712"/>
            <a:ext cx="1005840" cy="493776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6771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2267712"/>
            <a:ext cx="7040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data and use-case assessment across the INEOS trading floor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8229600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2D3F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834640"/>
            <a:ext cx="1005840" cy="493776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34640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2834640"/>
            <a:ext cx="7040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Radiant-MVT pilot, first AI model live by day 90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401568"/>
            <a:ext cx="8229600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2D3F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401568"/>
            <a:ext cx="1005840" cy="493776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01568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3401568"/>
            <a:ext cx="7040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operating model + AI Centre of Excellence framework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Caliche Energy Solutions  ·  Mattoon Partners  ·  calichesolutions.com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Radiant-MVT — INEOS Trading &amp; Shipping</dc:title>
  <dc:subject>PptxGenJS Presentation</dc:subject>
  <dc:creator>Caliche Energy Solutions</dc:creator>
  <cp:lastModifiedBy>Caliche Energy Solutions</cp:lastModifiedBy>
  <cp:revision>1</cp:revision>
  <dcterms:created xsi:type="dcterms:W3CDTF">2026-06-04T14:49:01Z</dcterms:created>
  <dcterms:modified xsi:type="dcterms:W3CDTF">2026-06-04T14:49:01Z</dcterms:modified>
</cp:coreProperties>
</file>